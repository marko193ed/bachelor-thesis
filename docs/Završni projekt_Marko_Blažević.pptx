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59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418CC-4C9C-4C98-E5BA-C75F5E3CB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87192-D981-362E-9502-2E62307C1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26A7C-11B9-3B95-5D81-515AD8836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C769-1590-4683-A4D8-AAD5690F1EF1}" type="datetimeFigureOut">
              <a:rPr lang="hr-HR" smtClean="0"/>
              <a:t>17.7.2025.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7799A-41F2-00CE-34EC-7F771CC6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CBFE9-0C0D-6EDA-B658-00478590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2344-A21F-4742-AAAB-1C487060830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02266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317EC-6B67-795B-F62D-1FC12746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F1B84-2466-14CC-BF72-A6F4F8432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75A9-8E31-3289-B38D-67E1F1C72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C769-1590-4683-A4D8-AAD5690F1EF1}" type="datetimeFigureOut">
              <a:rPr lang="hr-HR" smtClean="0"/>
              <a:t>17.7.2025.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D4DAB-5350-6A7B-3EA8-B21F7181A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51BC2-235F-070A-1328-FE171D2FD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2344-A21F-4742-AAAB-1C487060830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7278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5F92-5F7C-827C-0B00-C8C4091C4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C1CA7-DA50-AE7A-37A2-4F242DE7C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0462E-3DF3-3B1D-6BB8-08267D6F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C769-1590-4683-A4D8-AAD5690F1EF1}" type="datetimeFigureOut">
              <a:rPr lang="hr-HR" smtClean="0"/>
              <a:t>17.7.2025.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3602E-79AB-0FB4-DBF0-7F125B8C8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303E2-A5F1-18F9-1A33-B29218B4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2344-A21F-4742-AAAB-1C487060830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9050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4CD40-F03A-973E-879E-C42A1A091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F104B-294D-52DA-C7FD-E85719AE0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1A46E-4018-2EC6-22C9-29F158360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34FC5-027B-28EA-E221-F4541CFD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C769-1590-4683-A4D8-AAD5690F1EF1}" type="datetimeFigureOut">
              <a:rPr lang="hr-HR" smtClean="0"/>
              <a:t>17.7.2025.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C872F-A98E-62C3-9849-EDF7BC19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2DAD9-1A34-ABB3-27F0-A1A939741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2344-A21F-4742-AAAB-1C487060830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66198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88D91-DF97-3A7E-26A5-E7D3F2F8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8B027-0422-61EC-D9EF-CA863FB21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5921B-A962-5D02-4535-6DDA8957E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E0D021-AF53-11EC-FFBE-013E0FFC4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E0FA40-94F7-1808-5515-D69CCD34F2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754E99-DC28-0F80-3B19-EDFD8BED1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C769-1590-4683-A4D8-AAD5690F1EF1}" type="datetimeFigureOut">
              <a:rPr lang="hr-HR" smtClean="0"/>
              <a:t>17.7.2025.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303FE4-01BE-BCEB-B128-7779F0B7C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0439B9-F0EC-B3CC-158C-65C7C7115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2344-A21F-4742-AAAB-1C487060830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52304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BDF3-3FDC-B90E-FAFC-DCF54B34B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3D6DEC-EB72-5D7D-17F8-7CB604F64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C769-1590-4683-A4D8-AAD5690F1EF1}" type="datetimeFigureOut">
              <a:rPr lang="hr-HR" smtClean="0"/>
              <a:t>17.7.2025.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8FDAC-17C8-6BA7-F814-BBFDBB6A7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90537-E7DC-AB43-F658-A56C8A15E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2344-A21F-4742-AAAB-1C487060830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77515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C06DBD-B34D-AE43-86ED-B8CE79906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C769-1590-4683-A4D8-AAD5690F1EF1}" type="datetimeFigureOut">
              <a:rPr lang="hr-HR" smtClean="0"/>
              <a:t>17.7.2025.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7B6CF3-66CD-3FCF-CBC0-5DBDD3D46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AF575-387F-6A0F-228B-75A0BBEF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2344-A21F-4742-AAAB-1C487060830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7439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D8809-61AA-0176-B2F9-50D828E6D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437A9-D393-237E-5D87-562287726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D6CEE-06FB-094C-75B4-5F3BB7114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2F264-5AEF-4830-3AAA-56B1A97E7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C769-1590-4683-A4D8-AAD5690F1EF1}" type="datetimeFigureOut">
              <a:rPr lang="hr-HR" smtClean="0"/>
              <a:t>17.7.2025.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7B1A3-6EEE-19CD-969C-9BC67A633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C048C-7D00-D9DD-4068-B963C2915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2344-A21F-4742-AAAB-1C487060830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63074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7B7C-420C-FB19-8342-0D25737C3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34AB4F-C070-1279-829F-22B9A11855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9CD91-6F08-1BBA-67D5-01EA5CD41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8F817-F198-84AC-E483-9F9FE7117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C769-1590-4683-A4D8-AAD5690F1EF1}" type="datetimeFigureOut">
              <a:rPr lang="hr-HR" smtClean="0"/>
              <a:t>17.7.2025.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38CAB-2C26-B425-5370-74D8DB2E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56E0C-44CD-B2C3-9F89-FDA9EB16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2344-A21F-4742-AAAB-1C487060830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34503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546C6-9EC0-F63E-A3ED-9F841B97D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9596E-C005-5A40-E70C-559CA8462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3C8B5-10EB-B178-7544-419351AC2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C769-1590-4683-A4D8-AAD5690F1EF1}" type="datetimeFigureOut">
              <a:rPr lang="hr-HR" smtClean="0"/>
              <a:t>17.7.2025.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75BD9-9107-4D29-CEE4-4807A9E53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253A6-8475-A620-82A9-4607381F6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2344-A21F-4742-AAAB-1C487060830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24746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92A803-4CD2-21E5-7B13-C323453427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3CED2-B22A-464A-C43F-C331C7E07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2BCB4-D2C8-FD60-3CD1-6696AA1EA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C769-1590-4683-A4D8-AAD5690F1EF1}" type="datetimeFigureOut">
              <a:rPr lang="hr-HR" smtClean="0"/>
              <a:t>17.7.2025.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BB1F4-6227-54F5-5E4D-D976DC759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70485-F9EB-4F2C-AE7E-6B2815003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E2344-A21F-4742-AAAB-1C487060830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8541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58AEE7-621F-8B29-4E59-28162CE84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D0C73-A441-0D5C-C024-375F16AB9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C914A-BB31-9DE5-AC71-260FED618D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6C769-1590-4683-A4D8-AAD5690F1EF1}" type="datetimeFigureOut">
              <a:rPr lang="hr-HR" smtClean="0"/>
              <a:t>17.7.2025.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AD752-FAA0-9D1E-7D52-7EDBBB3DE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83641-0A6E-DC9D-F700-018771311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E2344-A21F-4742-AAAB-1C487060830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42895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rone on a table&#10;&#10;AI-generated content may be incorrect.">
            <a:extLst>
              <a:ext uri="{FF2B5EF4-FFF2-40B4-BE49-F238E27FC236}">
                <a16:creationId xmlns:a16="http://schemas.microsoft.com/office/drawing/2014/main" id="{0551D4B2-CA29-C960-BF18-58AB7781A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13818"/>
          <a:stretch>
            <a:fillRect/>
          </a:stretch>
        </p:blipFill>
        <p:spPr>
          <a:xfrm rot="5400000" flipH="1">
            <a:off x="4428744" y="-905256"/>
            <a:ext cx="6858000" cy="866851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5C5CF-6B90-D71C-2845-A64362152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hr-HR" sz="4800"/>
              <a:t>Završni projekt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4CCEE1-3B9A-5293-A46B-C5C7A6A3F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hr-HR" dirty="0"/>
              <a:t>Sustav kabelom povezane udaljene hvataljke na zračnom manipulatoru</a:t>
            </a:r>
          </a:p>
          <a:p>
            <a:pPr algn="l"/>
            <a:r>
              <a:rPr lang="hr-HR" sz="2000" dirty="0"/>
              <a:t>		</a:t>
            </a:r>
            <a:r>
              <a:rPr lang="hr-HR" sz="1600" dirty="0"/>
              <a:t>Marko Blažević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5390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Background">
            <a:extLst>
              <a:ext uri="{FF2B5EF4-FFF2-40B4-BE49-F238E27FC236}">
                <a16:creationId xmlns:a16="http://schemas.microsoft.com/office/drawing/2014/main" id="{7DE220E6-BA55-4F04-B3C4-F4985F3E7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8" name="tint">
            <a:extLst>
              <a:ext uri="{FF2B5EF4-FFF2-40B4-BE49-F238E27FC236}">
                <a16:creationId xmlns:a16="http://schemas.microsoft.com/office/drawing/2014/main" id="{5AE190BC-D2FD-433E-AB89-0DF68EFD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5644" y="0"/>
            <a:ext cx="1046356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43E8FEA2-54EE-4F84-B5DB-A055A7D80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6444" y="0"/>
            <a:ext cx="6075554" cy="6858000"/>
          </a:xfrm>
          <a:prstGeom prst="rect">
            <a:avLst/>
          </a:prstGeom>
          <a:ln>
            <a:noFill/>
          </a:ln>
          <a:effectLst>
            <a:outerShdw blurRad="508000" dist="190500" dir="5460000" sx="93000" sy="93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D8746A-DE7E-174B-63F7-FAB62784D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6432" y="762001"/>
            <a:ext cx="4554680" cy="1708243"/>
          </a:xfrm>
        </p:spPr>
        <p:txBody>
          <a:bodyPr anchor="ctr">
            <a:normAutofit/>
          </a:bodyPr>
          <a:lstStyle/>
          <a:p>
            <a:r>
              <a:rPr lang="hr-HR" sz="4000"/>
              <a:t>Cilj rada</a:t>
            </a:r>
          </a:p>
        </p:txBody>
      </p:sp>
      <p:pic>
        <p:nvPicPr>
          <p:cNvPr id="5" name="Picture 4" descr="A drone with a small camera&#10;&#10;AI-generated content may be incorrect.">
            <a:extLst>
              <a:ext uri="{FF2B5EF4-FFF2-40B4-BE49-F238E27FC236}">
                <a16:creationId xmlns:a16="http://schemas.microsoft.com/office/drawing/2014/main" id="{AD2251A0-04F7-7358-29FD-7F9532BF9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67" y="1459342"/>
            <a:ext cx="4541003" cy="393932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03357-8BCA-64D0-2C18-D52E02047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6432" y="2470244"/>
            <a:ext cx="4554680" cy="3769835"/>
          </a:xfrm>
        </p:spPr>
        <p:txBody>
          <a:bodyPr anchor="ctr">
            <a:normAutofit/>
          </a:bodyPr>
          <a:lstStyle/>
          <a:p>
            <a:r>
              <a:rPr lang="hr-HR" sz="1900"/>
              <a:t>Dizajn i izrada kabelski povezanog sustava zračnih manipulatora </a:t>
            </a:r>
          </a:p>
          <a:p>
            <a:endParaRPr lang="hr-HR" sz="1900"/>
          </a:p>
          <a:p>
            <a:r>
              <a:rPr lang="hr-HR" sz="1900"/>
              <a:t>Podijela na dva zadatka;</a:t>
            </a:r>
          </a:p>
          <a:p>
            <a:endParaRPr lang="hr-HR" sz="1900"/>
          </a:p>
          <a:p>
            <a:pPr lvl="1"/>
            <a:r>
              <a:rPr lang="hr-HR" sz="1900"/>
              <a:t>Dizajn hvataljke za cilindrične objekte</a:t>
            </a:r>
          </a:p>
          <a:p>
            <a:pPr marL="0" indent="0">
              <a:buNone/>
            </a:pPr>
            <a:endParaRPr lang="hr-HR" sz="1900"/>
          </a:p>
          <a:p>
            <a:pPr lvl="1"/>
            <a:r>
              <a:rPr lang="hr-HR" sz="1900"/>
              <a:t>Nadogradnja sustava kabelski povezanim sustavom</a:t>
            </a:r>
          </a:p>
          <a:p>
            <a:r>
              <a:rPr lang="hr-HR" sz="1900"/>
              <a:t>Implementacija na Hexsoon EDU-450</a:t>
            </a:r>
          </a:p>
          <a:p>
            <a:endParaRPr lang="hr-HR" sz="1900"/>
          </a:p>
          <a:p>
            <a:endParaRPr lang="hr-HR" sz="1900"/>
          </a:p>
          <a:p>
            <a:endParaRPr lang="hr-HR" sz="1900"/>
          </a:p>
        </p:txBody>
      </p:sp>
    </p:spTree>
    <p:extLst>
      <p:ext uri="{BB962C8B-B14F-4D97-AF65-F5344CB8AC3E}">
        <p14:creationId xmlns:p14="http://schemas.microsoft.com/office/powerpoint/2010/main" val="8860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53AE0-3D91-DE97-16DD-70ED429BB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r>
              <a:rPr lang="hr-HR"/>
              <a:t>Dizajniranje hvataljke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7478AA9-8B88-C7F0-C319-2C908137E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92194" cy="4351338"/>
          </a:xfrm>
        </p:spPr>
        <p:txBody>
          <a:bodyPr>
            <a:normAutofit/>
          </a:bodyPr>
          <a:lstStyle/>
          <a:p>
            <a:r>
              <a:rPr lang="hr-HR"/>
              <a:t>Dizajn baziran na radu Zuffereya  et al.</a:t>
            </a:r>
          </a:p>
          <a:p>
            <a:endParaRPr lang="hr-HR"/>
          </a:p>
          <a:p>
            <a:r>
              <a:rPr lang="hr-HR"/>
              <a:t>Bistabilni mehanizam</a:t>
            </a:r>
          </a:p>
          <a:p>
            <a:endParaRPr lang="hr-HR"/>
          </a:p>
          <a:p>
            <a:r>
              <a:rPr lang="hr-HR"/>
              <a:t>Upotreba opruga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drone with a claw attached to it&#10;&#10;AI-generated content may be incorrect.">
            <a:extLst>
              <a:ext uri="{FF2B5EF4-FFF2-40B4-BE49-F238E27FC236}">
                <a16:creationId xmlns:a16="http://schemas.microsoft.com/office/drawing/2014/main" id="{4C4F94F7-12AA-FBE4-A803-02188419E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73" r="19490"/>
          <a:stretch>
            <a:fillRect/>
          </a:stretch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23" name="Arc 22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close-up of a mechanical device&#10;&#10;AI-generated content may be incorrect.">
            <a:extLst>
              <a:ext uri="{FF2B5EF4-FFF2-40B4-BE49-F238E27FC236}">
                <a16:creationId xmlns:a16="http://schemas.microsoft.com/office/drawing/2014/main" id="{04D536CE-532A-3361-C4A7-EB742D1E03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7" r="3" b="7257"/>
          <a:stretch>
            <a:fillRect/>
          </a:stretch>
        </p:blipFill>
        <p:spPr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54626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3283D-88C4-CC15-7649-46F6B361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45336"/>
          </a:xfrm>
        </p:spPr>
        <p:txBody>
          <a:bodyPr anchor="b">
            <a:normAutofit/>
          </a:bodyPr>
          <a:lstStyle/>
          <a:p>
            <a:r>
              <a:rPr lang="hr-HR" dirty="0"/>
              <a:t>Testiranje prvog prototipa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drone on a pole&#10;&#10;AI-generated content may be incorrect.">
            <a:extLst>
              <a:ext uri="{FF2B5EF4-FFF2-40B4-BE49-F238E27FC236}">
                <a16:creationId xmlns:a16="http://schemas.microsoft.com/office/drawing/2014/main" id="{1A310D29-69A9-445A-003E-A7E0AC8F8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45" b="14794"/>
          <a:stretch>
            <a:fillRect/>
          </a:stretch>
        </p:blipFill>
        <p:spPr>
          <a:xfrm>
            <a:off x="7684008" y="1"/>
            <a:ext cx="4507992" cy="22402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A0D6A1D-12C6-01A7-1A68-5A5F0DCB9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>
            <a:normAutofit/>
          </a:bodyPr>
          <a:lstStyle/>
          <a:p>
            <a:r>
              <a:rPr lang="hr-HR" sz="2200" dirty="0"/>
              <a:t>Stabilnost u raznim pozicijama</a:t>
            </a:r>
          </a:p>
          <a:p>
            <a:endParaRPr lang="hr-HR" sz="2200" dirty="0"/>
          </a:p>
          <a:p>
            <a:r>
              <a:rPr lang="hr-HR" sz="2200" dirty="0"/>
              <a:t>Pozitivni ishod testiranja</a:t>
            </a:r>
          </a:p>
          <a:p>
            <a:endParaRPr lang="hr-HR" sz="2200" dirty="0"/>
          </a:p>
          <a:p>
            <a:endParaRPr lang="hr-HR" sz="2200" dirty="0"/>
          </a:p>
          <a:p>
            <a:endParaRPr lang="hr-HR" sz="2200" dirty="0"/>
          </a:p>
          <a:p>
            <a:endParaRPr lang="hr-HR" sz="2200" dirty="0"/>
          </a:p>
          <a:p>
            <a:endParaRPr lang="hr-HR" sz="2200" dirty="0"/>
          </a:p>
          <a:p>
            <a:endParaRPr lang="hr-HR" sz="2200" dirty="0"/>
          </a:p>
        </p:txBody>
      </p:sp>
      <p:pic>
        <p:nvPicPr>
          <p:cNvPr id="7" name="Picture 6" descr="A drone attached to a tree&#10;&#10;AI-generated content may be incorrect.">
            <a:extLst>
              <a:ext uri="{FF2B5EF4-FFF2-40B4-BE49-F238E27FC236}">
                <a16:creationId xmlns:a16="http://schemas.microsoft.com/office/drawing/2014/main" id="{84E3D0D0-FA8C-AA64-9FDD-BC3A6FDB7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6" b="7236"/>
          <a:stretch>
            <a:fillRect/>
          </a:stretch>
        </p:blipFill>
        <p:spPr>
          <a:xfrm>
            <a:off x="7684008" y="2308860"/>
            <a:ext cx="4507992" cy="2240280"/>
          </a:xfrm>
          <a:prstGeom prst="rect">
            <a:avLst/>
          </a:prstGeom>
        </p:spPr>
      </p:pic>
      <p:pic>
        <p:nvPicPr>
          <p:cNvPr id="9" name="Picture 8" descr="A drone flying on a ledge&#10;&#10;AI-generated content may be incorrect.">
            <a:extLst>
              <a:ext uri="{FF2B5EF4-FFF2-40B4-BE49-F238E27FC236}">
                <a16:creationId xmlns:a16="http://schemas.microsoft.com/office/drawing/2014/main" id="{90EEF30A-2906-EE06-4AE7-B612868CC1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39"/>
          <a:stretch>
            <a:fillRect/>
          </a:stretch>
        </p:blipFill>
        <p:spPr>
          <a:xfrm>
            <a:off x="7684008" y="4617720"/>
            <a:ext cx="4507992" cy="22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647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F9360-9463-EE77-F3AD-509B6E72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hr-HR" sz="4000"/>
              <a:t>Automatski sustav otvaranja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23E27-BA97-D145-B1D7-EA0EBECFF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hr-HR" sz="1900" dirty="0"/>
              <a:t>Upotreba Dynamixel motora</a:t>
            </a:r>
          </a:p>
          <a:p>
            <a:endParaRPr lang="hr-HR" sz="1900" dirty="0"/>
          </a:p>
          <a:p>
            <a:r>
              <a:rPr lang="hr-HR" sz="1900" dirty="0"/>
              <a:t>Komunikacija sa motorom ostvarena putem ROS-a</a:t>
            </a:r>
          </a:p>
          <a:p>
            <a:endParaRPr lang="hr-HR" sz="1900" dirty="0"/>
          </a:p>
          <a:p>
            <a:r>
              <a:rPr lang="hr-HR" sz="1900" dirty="0"/>
              <a:t>Winch_control.py skripta</a:t>
            </a:r>
          </a:p>
          <a:p>
            <a:pPr marL="0" indent="0">
              <a:buNone/>
            </a:pPr>
            <a:endParaRPr lang="hr-HR" sz="1900" dirty="0"/>
          </a:p>
          <a:p>
            <a:r>
              <a:rPr lang="hr-HR" sz="1900" dirty="0"/>
              <a:t>Dynamixel_SDK i Dynamixel_workbench paketi</a:t>
            </a:r>
          </a:p>
        </p:txBody>
      </p:sp>
      <p:pic>
        <p:nvPicPr>
          <p:cNvPr id="5" name="Picture 4" descr="A drawing of a machine&#10;&#10;AI-generated content may be incorrect.">
            <a:extLst>
              <a:ext uri="{FF2B5EF4-FFF2-40B4-BE49-F238E27FC236}">
                <a16:creationId xmlns:a16="http://schemas.microsoft.com/office/drawing/2014/main" id="{F79DE685-646D-B1E2-643E-4908A5506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4" r="9152" b="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45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40B309-572C-63FE-68AF-8D9E996C5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 fontScale="90000"/>
          </a:bodyPr>
          <a:lstStyle/>
          <a:p>
            <a:r>
              <a:rPr lang="hr-HR" sz="4000" dirty="0"/>
              <a:t>Prikaz rada automatiziranog sustava otvaranja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5B540F-BDA0-D8AD-FD67-3AD2ED8F0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 fontScale="25000" lnSpcReduction="20000"/>
          </a:bodyPr>
          <a:lstStyle/>
          <a:p>
            <a:pPr marL="0" indent="0">
              <a:buNone/>
            </a:pPr>
            <a:endParaRPr lang="hr-HR" sz="2000" dirty="0"/>
          </a:p>
          <a:p>
            <a:pPr marL="0" indent="0">
              <a:buNone/>
            </a:pPr>
            <a:endParaRPr lang="hr-HR" sz="2000" dirty="0"/>
          </a:p>
          <a:p>
            <a:pPr marL="0" indent="0">
              <a:buNone/>
            </a:pPr>
            <a:r>
              <a:rPr lang="hr-HR" sz="11200" dirty="0"/>
              <a:t>Slijed događaja:</a:t>
            </a:r>
            <a:br>
              <a:rPr lang="hr-HR" sz="11200" dirty="0"/>
            </a:br>
            <a:br>
              <a:rPr lang="hr-HR" sz="11200" dirty="0"/>
            </a:br>
            <a:r>
              <a:rPr lang="hr-HR" sz="11200" dirty="0"/>
              <a:t>=&gt;trigger_winch servis </a:t>
            </a:r>
          </a:p>
          <a:p>
            <a:pPr marL="0" indent="0">
              <a:buNone/>
            </a:pPr>
            <a:r>
              <a:rPr lang="hr-HR" sz="11200" dirty="0"/>
              <a:t>=&gt;trigger_winch_cb</a:t>
            </a:r>
          </a:p>
          <a:p>
            <a:pPr marL="0" indent="0">
              <a:buNone/>
            </a:pPr>
            <a:r>
              <a:rPr lang="hr-HR" sz="11200" dirty="0"/>
              <a:t>=&gt; DynamixelCommand</a:t>
            </a:r>
          </a:p>
          <a:p>
            <a:pPr marL="0" indent="0">
              <a:buNone/>
            </a:pPr>
            <a:r>
              <a:rPr lang="hr-HR" sz="11200" dirty="0"/>
              <a:t>=&gt;namatanje niti</a:t>
            </a:r>
          </a:p>
          <a:p>
            <a:pPr marL="0" indent="0">
              <a:buNone/>
            </a:pPr>
            <a:r>
              <a:rPr lang="hr-HR" sz="11200" dirty="0"/>
              <a:t>=&gt;otvaranje hvataljke</a:t>
            </a:r>
          </a:p>
          <a:p>
            <a:pPr marL="0" indent="0">
              <a:buNone/>
            </a:pPr>
            <a:endParaRPr lang="hr-HR" sz="2000" dirty="0"/>
          </a:p>
          <a:p>
            <a:pPr marL="0" indent="0">
              <a:buNone/>
            </a:pPr>
            <a:endParaRPr lang="hr-HR" sz="2000" dirty="0"/>
          </a:p>
          <a:p>
            <a:pPr marL="0" indent="0">
              <a:buNone/>
            </a:pPr>
            <a:endParaRPr lang="hr-HR" sz="2000" dirty="0"/>
          </a:p>
          <a:p>
            <a:pPr marL="0" indent="0">
              <a:buNone/>
            </a:pPr>
            <a:br>
              <a:rPr lang="hr-HR" sz="2000" dirty="0"/>
            </a:br>
            <a:endParaRPr lang="en-US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rad_automatskog_sustava">
            <a:hlinkClick r:id="" action="ppaction://media"/>
            <a:extLst>
              <a:ext uri="{FF2B5EF4-FFF2-40B4-BE49-F238E27FC236}">
                <a16:creationId xmlns:a16="http://schemas.microsoft.com/office/drawing/2014/main" id="{B14955A6-507C-34EA-8BA8-6D4EE7FA70F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10793" y="0"/>
            <a:ext cx="3873989" cy="688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09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8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U_letu">
            <a:hlinkClick r:id="" action="ppaction://media"/>
            <a:extLst>
              <a:ext uri="{FF2B5EF4-FFF2-40B4-BE49-F238E27FC236}">
                <a16:creationId xmlns:a16="http://schemas.microsoft.com/office/drawing/2014/main" id="{9B669D1A-2177-8170-27EE-50701FBFF4E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2799" y="457200"/>
            <a:ext cx="105664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84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58EFA-1ADB-A396-5391-5ED31324D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Nadogradnja sustava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lose-up of a robot&#10;&#10;AI-generated content may be incorrect.">
            <a:extLst>
              <a:ext uri="{FF2B5EF4-FFF2-40B4-BE49-F238E27FC236}">
                <a16:creationId xmlns:a16="http://schemas.microsoft.com/office/drawing/2014/main" id="{A0AE1959-7001-8351-F72C-987D6D541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88" y="2619784"/>
            <a:ext cx="2223024" cy="3600041"/>
          </a:xfrm>
          <a:prstGeom prst="rect">
            <a:avLst/>
          </a:prstGeom>
        </p:spPr>
      </p:pic>
      <p:pic>
        <p:nvPicPr>
          <p:cNvPr id="7" name="Picture 6" descr="A drone with propellers&#10;&#10;AI-generated content may be incorrect.">
            <a:extLst>
              <a:ext uri="{FF2B5EF4-FFF2-40B4-BE49-F238E27FC236}">
                <a16:creationId xmlns:a16="http://schemas.microsoft.com/office/drawing/2014/main" id="{90EEE1BA-8EE9-6BCB-DA93-6A3862EF1F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468" y="2619784"/>
            <a:ext cx="3609064" cy="3600041"/>
          </a:xfrm>
          <a:prstGeom prst="rect">
            <a:avLst/>
          </a:prstGeom>
        </p:spPr>
      </p:pic>
      <p:pic>
        <p:nvPicPr>
          <p:cNvPr id="5" name="Content Placeholder 4" descr="A close-up of a machine&#10;&#10;AI-generated content may be incorrect.">
            <a:extLst>
              <a:ext uri="{FF2B5EF4-FFF2-40B4-BE49-F238E27FC236}">
                <a16:creationId xmlns:a16="http://schemas.microsoft.com/office/drawing/2014/main" id="{99840006-1C95-E717-EFC7-5F633F6C91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208" y="3376909"/>
            <a:ext cx="3758184" cy="208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02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ollage of a building&#10;&#10;AI-generated content may be incorrect.">
            <a:extLst>
              <a:ext uri="{FF2B5EF4-FFF2-40B4-BE49-F238E27FC236}">
                <a16:creationId xmlns:a16="http://schemas.microsoft.com/office/drawing/2014/main" id="{E8070CC4-BDC8-0C6D-2530-B3FACF8C9D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" r="1" b="1"/>
          <a:stretch>
            <a:fillRect/>
          </a:stretch>
        </p:blipFill>
        <p:spPr>
          <a:xfrm>
            <a:off x="723501" y="783771"/>
            <a:ext cx="9943889" cy="560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98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BBE9-B14C-DF5B-2B54-4F4D83F83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dirty="0"/>
              <a:t>Zaključak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6903C-300F-8B83-9E22-C3972F1A6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r-HR" dirty="0"/>
              <a:t>Konstruirana hvataljka za zračni manipulator(bistabilni mehanizam)</a:t>
            </a:r>
          </a:p>
          <a:p>
            <a:endParaRPr lang="hr-HR" dirty="0"/>
          </a:p>
          <a:p>
            <a:r>
              <a:rPr lang="hr-HR" dirty="0"/>
              <a:t>Automatski sustav namatanja</a:t>
            </a:r>
          </a:p>
          <a:p>
            <a:endParaRPr lang="hr-HR" dirty="0"/>
          </a:p>
          <a:p>
            <a:r>
              <a:rPr lang="hr-HR" dirty="0"/>
              <a:t>Dan je prijedlog dizajna za nadogradnju letjelice kabelski povezanim sustavom</a:t>
            </a:r>
          </a:p>
          <a:p>
            <a:endParaRPr lang="hr-HR" dirty="0"/>
          </a:p>
          <a:p>
            <a:r>
              <a:rPr lang="hr-HR" dirty="0"/>
              <a:t>Testiranja ukazala na moguća poboljšanja</a:t>
            </a:r>
            <a:br>
              <a:rPr lang="hr-HR" dirty="0"/>
            </a:br>
            <a:br>
              <a:rPr lang="hr-HR" dirty="0"/>
            </a:b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340740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76705-E387-79CC-EFF9-EED90E435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BC8EF-A17C-954D-C504-E460E548F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hr-HR" sz="4400" dirty="0"/>
          </a:p>
          <a:p>
            <a:endParaRPr lang="hr-HR" sz="4400" dirty="0"/>
          </a:p>
          <a:p>
            <a:pPr algn="ctr"/>
            <a:r>
              <a:rPr lang="hr-HR" sz="4400"/>
              <a:t>Hvala </a:t>
            </a:r>
            <a:r>
              <a:rPr lang="hr-HR" sz="4400" dirty="0"/>
              <a:t>Vam na pažnji!</a:t>
            </a:r>
          </a:p>
        </p:txBody>
      </p:sp>
    </p:spTree>
    <p:extLst>
      <p:ext uri="{BB962C8B-B14F-4D97-AF65-F5344CB8AC3E}">
        <p14:creationId xmlns:p14="http://schemas.microsoft.com/office/powerpoint/2010/main" val="1521102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160</Words>
  <Application>Microsoft Office PowerPoint</Application>
  <PresentationFormat>Widescreen</PresentationFormat>
  <Paragraphs>59</Paragraphs>
  <Slides>11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Završni projekt</vt:lpstr>
      <vt:lpstr>Cilj rada</vt:lpstr>
      <vt:lpstr>Dizajniranje hvataljke</vt:lpstr>
      <vt:lpstr>Testiranje prvog prototipa</vt:lpstr>
      <vt:lpstr>Automatski sustav otvaranja</vt:lpstr>
      <vt:lpstr>Prikaz rada automatiziranog sustava otvaranja</vt:lpstr>
      <vt:lpstr>PowerPoint Presentation</vt:lpstr>
      <vt:lpstr>Nadogradnja sustava</vt:lpstr>
      <vt:lpstr>PowerPoint Presentation</vt:lpstr>
      <vt:lpstr>Zaključak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 Blažević</dc:creator>
  <cp:lastModifiedBy>Marko Blažević</cp:lastModifiedBy>
  <cp:revision>5</cp:revision>
  <dcterms:created xsi:type="dcterms:W3CDTF">2025-07-16T16:05:30Z</dcterms:created>
  <dcterms:modified xsi:type="dcterms:W3CDTF">2025-07-17T10:00:05Z</dcterms:modified>
</cp:coreProperties>
</file>